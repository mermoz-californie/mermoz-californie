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pic>
        <p:nvPicPr>
          <p:cNvPr id="2" name="Picture 1" descr="2.png"/>
          <p:cNvPicPr>
            <a:picLocks noChangeAspect="1"/>
          </p:cNvPicPr>
          <p:nvPr/>
        </p:nvPicPr>
        <p:blipFill>
          <a:blip r:embed="rId2"/>
          <a:stretch>
            <a:fillRect/>
          </a:stretch>
        </p:blipFill>
        <p:spPr>
          <a:xfrm>
            <a:off x="7589520" y="822960"/>
            <a:ext cx="4023360" cy="4025876"/>
          </a:xfrm>
          <a:prstGeom prst="rect">
            <a:avLst/>
          </a:prstGeom>
        </p:spPr>
      </p:pic>
      <p:sp>
        <p:nvSpPr>
          <p:cNvPr id="3" name="TextBox 2"/>
          <p:cNvSpPr txBox="1"/>
          <p:nvPr/>
        </p:nvSpPr>
        <p:spPr>
          <a:xfrm>
            <a:off x="822960" y="2011680"/>
            <a:ext cx="6766560" cy="2377440"/>
          </a:xfrm>
          <a:prstGeom prst="rect">
            <a:avLst/>
          </a:prstGeom>
          <a:noFill/>
        </p:spPr>
        <p:txBody>
          <a:bodyPr wrap="square" anchor="t" lIns="0" rIns="0" tIns="0" bIns="0">
            <a:spAutoFit/>
          </a:bodyPr>
          <a:lstStyle/>
          <a:p>
            <a:pPr algn="l">
              <a:lnSpc>
                <a:spcPct val="92000"/>
              </a:lnSpc>
            </a:pPr>
            <a:r>
              <a:rPr sz="5400" b="1">
                <a:solidFill>
                  <a:srgbClr val="E0DFD9"/>
                </a:solidFill>
                <a:latin typeface="Helvetica Neue"/>
              </a:rPr>
              <a:t>MERMOZ
CALIFORNIE®</a:t>
            </a:r>
          </a:p>
        </p:txBody>
      </p:sp>
      <p:sp>
        <p:nvSpPr>
          <p:cNvPr id="4" name="TextBox 3"/>
          <p:cNvSpPr txBox="1"/>
          <p:nvPr/>
        </p:nvSpPr>
        <p:spPr>
          <a:xfrm>
            <a:off x="868680" y="4480560"/>
            <a:ext cx="5486400" cy="548640"/>
          </a:xfrm>
          <a:prstGeom prst="rect">
            <a:avLst/>
          </a:prstGeom>
          <a:noFill/>
        </p:spPr>
        <p:txBody>
          <a:bodyPr wrap="square" anchor="t" lIns="0" rIns="0" tIns="0" bIns="0">
            <a:spAutoFit/>
          </a:bodyPr>
          <a:lstStyle/>
          <a:p>
            <a:pPr algn="l">
              <a:lnSpc>
                <a:spcPct val="95000"/>
              </a:lnSpc>
            </a:pPr>
            <a:r>
              <a:rPr sz="2000" b="0">
                <a:solidFill>
                  <a:srgbClr val="8A8985"/>
                </a:solidFill>
                <a:latin typeface="Helvetica Neue"/>
              </a:rPr>
              <a:t>Studio de création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sp>
        <p:nvSpPr>
          <p:cNvPr id="2" name="TextBox 1"/>
          <p:cNvSpPr txBox="1"/>
          <p:nvPr/>
        </p:nvSpPr>
        <p:spPr>
          <a:xfrm>
            <a:off x="822960" y="1280160"/>
            <a:ext cx="8595360" cy="3840480"/>
          </a:xfrm>
          <a:prstGeom prst="rect">
            <a:avLst/>
          </a:prstGeom>
          <a:noFill/>
        </p:spPr>
        <p:txBody>
          <a:bodyPr wrap="square" anchor="t" lIns="0" rIns="0" tIns="0" bIns="0">
            <a:spAutoFit/>
          </a:bodyPr>
          <a:lstStyle/>
          <a:p>
            <a:pPr algn="l">
              <a:lnSpc>
                <a:spcPct val="105000"/>
              </a:lnSpc>
            </a:pPr>
            <a:r>
              <a:rPr sz="4400" b="1">
                <a:solidFill>
                  <a:srgbClr val="E0DFD9"/>
                </a:solidFill>
                <a:latin typeface="Helvetica Neue"/>
              </a:rPr>
              <a:t>On n'a pas d'actionnaires,
on est pas au cac40,
on n'a même pas
de ticket restau.</a:t>
            </a:r>
          </a:p>
        </p:txBody>
      </p:sp>
      <p:pic>
        <p:nvPicPr>
          <p:cNvPr id="3" name="Picture 2" descr="1.png"/>
          <p:cNvPicPr>
            <a:picLocks noChangeAspect="1"/>
          </p:cNvPicPr>
          <p:nvPr/>
        </p:nvPicPr>
        <p:blipFill>
          <a:blip r:embed="rId2"/>
          <a:stretch>
            <a:fillRect/>
          </a:stretch>
        </p:blipFill>
        <p:spPr>
          <a:xfrm>
            <a:off x="6035040" y="4754880"/>
            <a:ext cx="5120640" cy="205785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sp>
        <p:nvSpPr>
          <p:cNvPr id="2" name="TextBox 1"/>
          <p:cNvSpPr txBox="1"/>
          <p:nvPr/>
        </p:nvSpPr>
        <p:spPr>
          <a:xfrm>
            <a:off x="822960" y="822960"/>
            <a:ext cx="5486400" cy="457200"/>
          </a:xfrm>
          <a:prstGeom prst="rect">
            <a:avLst/>
          </a:prstGeom>
          <a:noFill/>
        </p:spPr>
        <p:txBody>
          <a:bodyPr wrap="square" anchor="t" lIns="0" rIns="0" tIns="0" bIns="0">
            <a:spAutoFit/>
          </a:bodyPr>
          <a:lstStyle/>
          <a:p>
            <a:pPr algn="l">
              <a:lnSpc>
                <a:spcPct val="95000"/>
              </a:lnSpc>
            </a:pPr>
            <a:r>
              <a:rPr sz="1300" b="1" spc="220">
                <a:solidFill>
                  <a:srgbClr val="8A8985"/>
                </a:solidFill>
                <a:latin typeface="Helvetica Neue"/>
              </a:rPr>
              <a:t>MANIFESTE</a:t>
            </a:r>
          </a:p>
        </p:txBody>
      </p:sp>
      <p:sp>
        <p:nvSpPr>
          <p:cNvPr id="3" name="TextBox 2"/>
          <p:cNvSpPr txBox="1"/>
          <p:nvPr/>
        </p:nvSpPr>
        <p:spPr>
          <a:xfrm>
            <a:off x="822960" y="1737360"/>
            <a:ext cx="7680960" cy="3657600"/>
          </a:xfrm>
          <a:prstGeom prst="rect">
            <a:avLst/>
          </a:prstGeom>
          <a:noFill/>
        </p:spPr>
        <p:txBody>
          <a:bodyPr wrap="square" anchor="t" lIns="0" rIns="0" tIns="0" bIns="0">
            <a:spAutoFit/>
          </a:bodyPr>
          <a:lstStyle/>
          <a:p>
            <a:pPr algn="l">
              <a:lnSpc>
                <a:spcPct val="125000"/>
              </a:lnSpc>
            </a:pPr>
            <a:r>
              <a:rPr sz="2800" b="0">
                <a:solidFill>
                  <a:srgbClr val="E0DFD9"/>
                </a:solidFill>
                <a:latin typeface="Helvetica Neue"/>
              </a:rPr>
              <a:t>Nous créons une résonance affective durable entre votre marque et son audience. Nous proposons une communication contextualisée et accrocheuse, pour ne pas tomber dans le piège des messages publicitaires informatifs et sans esprit.</a:t>
            </a:r>
          </a:p>
        </p:txBody>
      </p:sp>
      <p:pic>
        <p:nvPicPr>
          <p:cNvPr id="4" name="Picture 3" descr="12.png"/>
          <p:cNvPicPr>
            <a:picLocks noChangeAspect="1"/>
          </p:cNvPicPr>
          <p:nvPr/>
        </p:nvPicPr>
        <p:blipFill>
          <a:blip r:embed="rId2"/>
          <a:stretch>
            <a:fillRect/>
          </a:stretch>
        </p:blipFill>
        <p:spPr>
          <a:xfrm>
            <a:off x="8321040" y="3108960"/>
            <a:ext cx="3291840" cy="192778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nchor="t" lIns="0" rIns="0" tIns="0" bIns="0">
            <a:spAutoFit/>
          </a:bodyPr>
          <a:lstStyle/>
          <a:p>
            <a:pPr algn="l">
              <a:lnSpc>
                <a:spcPct val="95000"/>
              </a:lnSpc>
            </a:pPr>
            <a:r>
              <a:rPr sz="1300" b="1" spc="220">
                <a:solidFill>
                  <a:srgbClr val="8A8985"/>
                </a:solidFill>
                <a:latin typeface="Helvetica Neue"/>
              </a:rPr>
              <a:t>CE QUE NOUS FAISONS</a:t>
            </a:r>
          </a:p>
        </p:txBody>
      </p:sp>
      <p:sp>
        <p:nvSpPr>
          <p:cNvPr id="3" name="TextBox 2"/>
          <p:cNvSpPr txBox="1"/>
          <p:nvPr/>
        </p:nvSpPr>
        <p:spPr>
          <a:xfrm>
            <a:off x="822960" y="1874519"/>
            <a:ext cx="731520" cy="457200"/>
          </a:xfrm>
          <a:prstGeom prst="rect">
            <a:avLst/>
          </a:prstGeom>
          <a:noFill/>
        </p:spPr>
        <p:txBody>
          <a:bodyPr wrap="square" anchor="t" lIns="0" rIns="0" tIns="0" bIns="0">
            <a:spAutoFit/>
          </a:bodyPr>
          <a:lstStyle/>
          <a:p>
            <a:pPr algn="l">
              <a:lnSpc>
                <a:spcPct val="95000"/>
              </a:lnSpc>
            </a:pPr>
            <a:r>
              <a:rPr sz="1300" b="1">
                <a:solidFill>
                  <a:srgbClr val="8A8985"/>
                </a:solidFill>
                <a:latin typeface="Helvetica Neue"/>
              </a:rPr>
              <a:t>01</a:t>
            </a:r>
          </a:p>
        </p:txBody>
      </p:sp>
      <p:sp>
        <p:nvSpPr>
          <p:cNvPr id="4" name="TextBox 3"/>
          <p:cNvSpPr txBox="1"/>
          <p:nvPr/>
        </p:nvSpPr>
        <p:spPr>
          <a:xfrm>
            <a:off x="1645920" y="1645920"/>
            <a:ext cx="4572000" cy="914400"/>
          </a:xfrm>
          <a:prstGeom prst="rect">
            <a:avLst/>
          </a:prstGeom>
          <a:noFill/>
        </p:spPr>
        <p:txBody>
          <a:bodyPr wrap="square" anchor="t" lIns="0" rIns="0" tIns="0" bIns="0">
            <a:spAutoFit/>
          </a:bodyPr>
          <a:lstStyle/>
          <a:p>
            <a:pPr algn="l">
              <a:lnSpc>
                <a:spcPct val="95000"/>
              </a:lnSpc>
            </a:pPr>
            <a:r>
              <a:rPr sz="4000" b="1">
                <a:solidFill>
                  <a:srgbClr val="E0DFD9"/>
                </a:solidFill>
                <a:latin typeface="Helvetica Neue"/>
              </a:rPr>
              <a:t>PUBLICITÉ</a:t>
            </a:r>
          </a:p>
        </p:txBody>
      </p:sp>
      <p:sp>
        <p:nvSpPr>
          <p:cNvPr id="5" name="TextBox 4"/>
          <p:cNvSpPr txBox="1"/>
          <p:nvPr/>
        </p:nvSpPr>
        <p:spPr>
          <a:xfrm>
            <a:off x="1691640" y="2514600"/>
            <a:ext cx="5852160" cy="731520"/>
          </a:xfrm>
          <a:prstGeom prst="rect">
            <a:avLst/>
          </a:prstGeom>
          <a:noFill/>
        </p:spPr>
        <p:txBody>
          <a:bodyPr wrap="square" anchor="t" lIns="0" rIns="0" tIns="0" bIns="0">
            <a:spAutoFit/>
          </a:bodyPr>
          <a:lstStyle/>
          <a:p>
            <a:pPr algn="l">
              <a:lnSpc>
                <a:spcPct val="95000"/>
              </a:lnSpc>
            </a:pPr>
            <a:r>
              <a:rPr sz="1300" b="0" spc="60">
                <a:solidFill>
                  <a:srgbClr val="8A8985"/>
                </a:solidFill>
                <a:latin typeface="Helvetica Neue"/>
              </a:rPr>
              <a:t>FILM TVC &amp; OLV · OOH &amp; DOOH · CAMPAGNE ONLINE · RADIO</a:t>
            </a:r>
          </a:p>
        </p:txBody>
      </p:sp>
      <p:sp>
        <p:nvSpPr>
          <p:cNvPr id="6" name="TextBox 5"/>
          <p:cNvSpPr txBox="1"/>
          <p:nvPr/>
        </p:nvSpPr>
        <p:spPr>
          <a:xfrm>
            <a:off x="822960" y="3886200"/>
            <a:ext cx="731520" cy="457200"/>
          </a:xfrm>
          <a:prstGeom prst="rect">
            <a:avLst/>
          </a:prstGeom>
          <a:noFill/>
        </p:spPr>
        <p:txBody>
          <a:bodyPr wrap="square" anchor="t" lIns="0" rIns="0" tIns="0" bIns="0">
            <a:spAutoFit/>
          </a:bodyPr>
          <a:lstStyle/>
          <a:p>
            <a:pPr algn="l">
              <a:lnSpc>
                <a:spcPct val="95000"/>
              </a:lnSpc>
            </a:pPr>
            <a:r>
              <a:rPr sz="1300" b="1">
                <a:solidFill>
                  <a:srgbClr val="8A8985"/>
                </a:solidFill>
                <a:latin typeface="Helvetica Neue"/>
              </a:rPr>
              <a:t>02</a:t>
            </a:r>
          </a:p>
        </p:txBody>
      </p:sp>
      <p:sp>
        <p:nvSpPr>
          <p:cNvPr id="7" name="TextBox 6"/>
          <p:cNvSpPr txBox="1"/>
          <p:nvPr/>
        </p:nvSpPr>
        <p:spPr>
          <a:xfrm>
            <a:off x="1645920" y="3657600"/>
            <a:ext cx="4572000" cy="914400"/>
          </a:xfrm>
          <a:prstGeom prst="rect">
            <a:avLst/>
          </a:prstGeom>
          <a:noFill/>
        </p:spPr>
        <p:txBody>
          <a:bodyPr wrap="square" anchor="t" lIns="0" rIns="0" tIns="0" bIns="0">
            <a:spAutoFit/>
          </a:bodyPr>
          <a:lstStyle/>
          <a:p>
            <a:pPr algn="l">
              <a:lnSpc>
                <a:spcPct val="95000"/>
              </a:lnSpc>
            </a:pPr>
            <a:r>
              <a:rPr sz="4000" b="1">
                <a:solidFill>
                  <a:srgbClr val="E0DFD9"/>
                </a:solidFill>
                <a:latin typeface="Helvetica Neue"/>
              </a:rPr>
              <a:t>BRANDING</a:t>
            </a:r>
          </a:p>
        </p:txBody>
      </p:sp>
      <p:sp>
        <p:nvSpPr>
          <p:cNvPr id="8" name="TextBox 7"/>
          <p:cNvSpPr txBox="1"/>
          <p:nvPr/>
        </p:nvSpPr>
        <p:spPr>
          <a:xfrm>
            <a:off x="1691640" y="4526280"/>
            <a:ext cx="6035040" cy="822960"/>
          </a:xfrm>
          <a:prstGeom prst="rect">
            <a:avLst/>
          </a:prstGeom>
          <a:noFill/>
        </p:spPr>
        <p:txBody>
          <a:bodyPr wrap="square" anchor="t" lIns="0" rIns="0" tIns="0" bIns="0">
            <a:spAutoFit/>
          </a:bodyPr>
          <a:lstStyle/>
          <a:p>
            <a:pPr algn="l">
              <a:lnSpc>
                <a:spcPct val="95000"/>
              </a:lnSpc>
            </a:pPr>
            <a:r>
              <a:rPr sz="1300" b="0" spc="60">
                <a:solidFill>
                  <a:srgbClr val="8A8985"/>
                </a:solidFill>
                <a:latin typeface="Helvetica Neue"/>
              </a:rPr>
              <a:t>STRATÉGIE · IDENTITÉ VISUELLE &amp; RÉDACTIONNELLE · NAMING · DESIGN SYSTEM</a:t>
            </a:r>
          </a:p>
        </p:txBody>
      </p:sp>
      <p:pic>
        <p:nvPicPr>
          <p:cNvPr id="9" name="Picture 8" descr="10.png"/>
          <p:cNvPicPr>
            <a:picLocks noChangeAspect="1"/>
          </p:cNvPicPr>
          <p:nvPr/>
        </p:nvPicPr>
        <p:blipFill>
          <a:blip r:embed="rId2"/>
          <a:stretch>
            <a:fillRect/>
          </a:stretch>
        </p:blipFill>
        <p:spPr>
          <a:xfrm>
            <a:off x="7772400" y="2194560"/>
            <a:ext cx="3840480" cy="19946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sp>
        <p:nvSpPr>
          <p:cNvPr id="2" name="TextBox 1"/>
          <p:cNvSpPr txBox="1"/>
          <p:nvPr/>
        </p:nvSpPr>
        <p:spPr>
          <a:xfrm>
            <a:off x="822960" y="685800"/>
            <a:ext cx="7315200" cy="457200"/>
          </a:xfrm>
          <a:prstGeom prst="rect">
            <a:avLst/>
          </a:prstGeom>
          <a:noFill/>
        </p:spPr>
        <p:txBody>
          <a:bodyPr wrap="square" anchor="t" lIns="0" rIns="0" tIns="0" bIns="0">
            <a:spAutoFit/>
          </a:bodyPr>
          <a:lstStyle/>
          <a:p>
            <a:pPr algn="l">
              <a:lnSpc>
                <a:spcPct val="95000"/>
              </a:lnSpc>
            </a:pPr>
            <a:r>
              <a:rPr sz="1300" b="1" spc="220">
                <a:solidFill>
                  <a:srgbClr val="8A8985"/>
                </a:solidFill>
                <a:latin typeface="Helvetica Neue"/>
              </a:rPr>
              <a:t>QUI SOMMES NOUS ?</a:t>
            </a:r>
          </a:p>
        </p:txBody>
      </p:sp>
      <p:pic>
        <p:nvPicPr>
          <p:cNvPr id="3" name="Picture 2" descr="9.png"/>
          <p:cNvPicPr>
            <a:picLocks noChangeAspect="1"/>
          </p:cNvPicPr>
          <p:nvPr/>
        </p:nvPicPr>
        <p:blipFill>
          <a:blip r:embed="rId2"/>
          <a:stretch>
            <a:fillRect/>
          </a:stretch>
        </p:blipFill>
        <p:spPr>
          <a:xfrm>
            <a:off x="731520" y="1463040"/>
            <a:ext cx="3931920" cy="3061982"/>
          </a:xfrm>
          <a:prstGeom prst="rect">
            <a:avLst/>
          </a:prstGeom>
        </p:spPr>
      </p:pic>
      <p:pic>
        <p:nvPicPr>
          <p:cNvPr id="4" name="Picture 3" descr="13.png"/>
          <p:cNvPicPr>
            <a:picLocks noChangeAspect="1"/>
          </p:cNvPicPr>
          <p:nvPr/>
        </p:nvPicPr>
        <p:blipFill>
          <a:blip r:embed="rId3"/>
          <a:stretch>
            <a:fillRect/>
          </a:stretch>
        </p:blipFill>
        <p:spPr>
          <a:xfrm>
            <a:off x="4572000" y="1234440"/>
            <a:ext cx="3840480" cy="2971571"/>
          </a:xfrm>
          <a:prstGeom prst="rect">
            <a:avLst/>
          </a:prstGeom>
        </p:spPr>
      </p:pic>
      <p:pic>
        <p:nvPicPr>
          <p:cNvPr id="5" name="Picture 4" descr="7.png"/>
          <p:cNvPicPr>
            <a:picLocks noChangeAspect="1"/>
          </p:cNvPicPr>
          <p:nvPr/>
        </p:nvPicPr>
        <p:blipFill>
          <a:blip r:embed="rId4"/>
          <a:stretch>
            <a:fillRect/>
          </a:stretch>
        </p:blipFill>
        <p:spPr>
          <a:xfrm>
            <a:off x="8229600" y="1828800"/>
            <a:ext cx="3200400" cy="1838229"/>
          </a:xfrm>
          <a:prstGeom prst="rect">
            <a:avLst/>
          </a:prstGeom>
        </p:spPr>
      </p:pic>
      <p:pic>
        <p:nvPicPr>
          <p:cNvPr id="6" name="Picture 5" descr="11.png"/>
          <p:cNvPicPr>
            <a:picLocks noChangeAspect="1"/>
          </p:cNvPicPr>
          <p:nvPr/>
        </p:nvPicPr>
        <p:blipFill>
          <a:blip r:embed="rId5"/>
          <a:stretch>
            <a:fillRect/>
          </a:stretch>
        </p:blipFill>
        <p:spPr>
          <a:xfrm>
            <a:off x="1463040" y="3566160"/>
            <a:ext cx="3108960" cy="2526030"/>
          </a:xfrm>
          <a:prstGeom prst="rect">
            <a:avLst/>
          </a:prstGeom>
        </p:spPr>
      </p:pic>
      <p:pic>
        <p:nvPicPr>
          <p:cNvPr id="7" name="Picture 6" descr="16.png"/>
          <p:cNvPicPr>
            <a:picLocks noChangeAspect="1"/>
          </p:cNvPicPr>
          <p:nvPr/>
        </p:nvPicPr>
        <p:blipFill>
          <a:blip r:embed="rId6"/>
          <a:stretch>
            <a:fillRect/>
          </a:stretch>
        </p:blipFill>
        <p:spPr>
          <a:xfrm>
            <a:off x="4846320" y="3840480"/>
            <a:ext cx="3291840" cy="2489454"/>
          </a:xfrm>
          <a:prstGeom prst="rect">
            <a:avLst/>
          </a:prstGeom>
        </p:spPr>
      </p:pic>
      <p:pic>
        <p:nvPicPr>
          <p:cNvPr id="8" name="Picture 7" descr="14.png"/>
          <p:cNvPicPr>
            <a:picLocks noChangeAspect="1"/>
          </p:cNvPicPr>
          <p:nvPr/>
        </p:nvPicPr>
        <p:blipFill>
          <a:blip r:embed="rId7"/>
          <a:stretch>
            <a:fillRect/>
          </a:stretch>
        </p:blipFill>
        <p:spPr>
          <a:xfrm>
            <a:off x="8412480" y="3931920"/>
            <a:ext cx="2377440" cy="237149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pic>
        <p:nvPicPr>
          <p:cNvPr id="2" name="Picture 1" descr="15.png"/>
          <p:cNvPicPr>
            <a:picLocks noChangeAspect="1"/>
          </p:cNvPicPr>
          <p:nvPr/>
        </p:nvPicPr>
        <p:blipFill>
          <a:blip r:embed="rId2"/>
          <a:stretch>
            <a:fillRect/>
          </a:stretch>
        </p:blipFill>
        <p:spPr>
          <a:xfrm>
            <a:off x="914400" y="822960"/>
            <a:ext cx="4023360" cy="4265988"/>
          </a:xfrm>
          <a:prstGeom prst="rect">
            <a:avLst/>
          </a:prstGeom>
        </p:spPr>
      </p:pic>
      <p:pic>
        <p:nvPicPr>
          <p:cNvPr id="3" name="Picture 2" descr="16.png"/>
          <p:cNvPicPr>
            <a:picLocks noChangeAspect="1"/>
          </p:cNvPicPr>
          <p:nvPr/>
        </p:nvPicPr>
        <p:blipFill>
          <a:blip r:embed="rId3"/>
          <a:stretch>
            <a:fillRect/>
          </a:stretch>
        </p:blipFill>
        <p:spPr>
          <a:xfrm>
            <a:off x="5943600" y="2743200"/>
            <a:ext cx="4572000" cy="34575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2221"/>
        </a:solidFill>
        <a:effectLst/>
      </p:bgPr>
    </p:bg>
    <p:spTree>
      <p:nvGrpSpPr>
        <p:cNvPr id="1" name=""/>
        <p:cNvGrpSpPr/>
        <p:nvPr/>
      </p:nvGrpSpPr>
      <p:grpSpPr/>
      <p:sp>
        <p:nvSpPr>
          <p:cNvPr id="2" name="TextBox 1"/>
          <p:cNvSpPr txBox="1"/>
          <p:nvPr/>
        </p:nvSpPr>
        <p:spPr>
          <a:xfrm>
            <a:off x="822960" y="2194560"/>
            <a:ext cx="7315200" cy="457200"/>
          </a:xfrm>
          <a:prstGeom prst="rect">
            <a:avLst/>
          </a:prstGeom>
          <a:noFill/>
        </p:spPr>
        <p:txBody>
          <a:bodyPr wrap="square" anchor="t" lIns="0" rIns="0" tIns="0" bIns="0">
            <a:spAutoFit/>
          </a:bodyPr>
          <a:lstStyle/>
          <a:p>
            <a:pPr algn="l">
              <a:lnSpc>
                <a:spcPct val="95000"/>
              </a:lnSpc>
            </a:pPr>
            <a:r>
              <a:rPr sz="1300" b="1" spc="220">
                <a:solidFill>
                  <a:srgbClr val="8A8985"/>
                </a:solidFill>
                <a:latin typeface="Helvetica Neue"/>
              </a:rPr>
              <a:t>CONTACTEZ-NOUS</a:t>
            </a:r>
          </a:p>
        </p:txBody>
      </p:sp>
      <p:sp>
        <p:nvSpPr>
          <p:cNvPr id="3" name="Rounded Rectangle 2"/>
          <p:cNvSpPr/>
          <p:nvPr/>
        </p:nvSpPr>
        <p:spPr>
          <a:xfrm>
            <a:off x="777240" y="2834640"/>
            <a:ext cx="7863840" cy="960120"/>
          </a:xfrm>
          <a:prstGeom prst="roundRect">
            <a:avLst>
              <a:gd name="adj" fmla="val 50000"/>
            </a:avLst>
          </a:prstGeom>
          <a:solidFill>
            <a:srgbClr val="4AD66D"/>
          </a:solidFill>
          <a:ln>
            <a:noFill/>
          </a:ln>
        </p:spPr>
        <p:style>
          <a:lnRef idx="1">
            <a:schemeClr val="accent1"/>
          </a:lnRef>
          <a:fillRef idx="3">
            <a:schemeClr val="accent1"/>
          </a:fillRef>
          <a:effectRef idx="2">
            <a:schemeClr val="accent1"/>
          </a:effectRef>
          <a:fontRef idx="minor">
            <a:schemeClr val="lt1"/>
          </a:fontRef>
        </p:style>
        <p:txBody>
          <a:bodyPr rtlCol="0" anchor="ctr" wrap="none" lIns="411480" rIns="411480" tIns="201168" bIns="201168"/>
          <a:lstStyle/>
          <a:p>
            <a:pPr algn="l"/>
            <a:r>
              <a:rPr sz="3000" b="1">
                <a:solidFill>
                  <a:srgbClr val="222221"/>
                </a:solidFill>
                <a:latin typeface="Helvetica Neue"/>
              </a:rPr>
              <a:t>creation@mermoz-californie.com</a:t>
            </a:r>
          </a:p>
        </p:txBody>
      </p:sp>
      <p:sp>
        <p:nvSpPr>
          <p:cNvPr id="4" name="TextBox 3"/>
          <p:cNvSpPr txBox="1"/>
          <p:nvPr/>
        </p:nvSpPr>
        <p:spPr>
          <a:xfrm>
            <a:off x="868680" y="4114800"/>
            <a:ext cx="5486400" cy="457200"/>
          </a:xfrm>
          <a:prstGeom prst="rect">
            <a:avLst/>
          </a:prstGeom>
          <a:noFill/>
        </p:spPr>
        <p:txBody>
          <a:bodyPr wrap="square" anchor="t" lIns="0" rIns="0" tIns="0" bIns="0">
            <a:spAutoFit/>
          </a:bodyPr>
          <a:lstStyle/>
          <a:p>
            <a:pPr algn="l">
              <a:lnSpc>
                <a:spcPct val="95000"/>
              </a:lnSpc>
            </a:pPr>
            <a:r>
              <a:rPr sz="1500" b="0">
                <a:solidFill>
                  <a:srgbClr val="8A8985"/>
                </a:solidFill>
                <a:latin typeface="Helvetica Neue"/>
              </a:rPr>
              <a:t>mermoz-californie.com</a:t>
            </a:r>
          </a:p>
        </p:txBody>
      </p:sp>
      <p:sp>
        <p:nvSpPr>
          <p:cNvPr id="5" name="TextBox 4"/>
          <p:cNvSpPr txBox="1"/>
          <p:nvPr/>
        </p:nvSpPr>
        <p:spPr>
          <a:xfrm>
            <a:off x="822960" y="5760720"/>
            <a:ext cx="8229600" cy="640080"/>
          </a:xfrm>
          <a:prstGeom prst="rect">
            <a:avLst/>
          </a:prstGeom>
          <a:noFill/>
        </p:spPr>
        <p:txBody>
          <a:bodyPr wrap="square" anchor="t" lIns="0" rIns="0" tIns="0" bIns="0">
            <a:spAutoFit/>
          </a:bodyPr>
          <a:lstStyle/>
          <a:p>
            <a:pPr algn="l">
              <a:lnSpc>
                <a:spcPct val="95000"/>
              </a:lnSpc>
            </a:pPr>
            <a:r>
              <a:rPr sz="2600" b="1">
                <a:solidFill>
                  <a:srgbClr val="E0DFD9"/>
                </a:solidFill>
                <a:latin typeface="Helvetica Neue"/>
              </a:rPr>
              <a:t>MERMOZ CALIFORNIE®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